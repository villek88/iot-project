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98755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Smart Wildlife</a:t>
            </a:r>
            <a:br/>
            <a:r>
              <a:t>Monitoring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92608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D6E1E6"/>
                </a:solidFill>
              </a:defRPr>
            </a:pPr>
            <a:r>
              <a:t>OpenMV N6 • Thermal motion detection • Pre-event recording • AWS recognition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2120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Ville Karppinen  |  Metropolia UAS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69680" y="4800600"/>
            <a:ext cx="2377440" cy="731520"/>
          </a:xfrm>
          <a:prstGeom prst="round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Embedded → Cloud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2B3A"/>
                </a:solidFill>
              </a:defRPr>
            </a:pPr>
            <a:r>
              <a:t>1. Project Goal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8757E"/>
                </a:solidFill>
              </a:defRPr>
            </a:pPr>
            <a:r>
              <a:t>Capture the event — including the seconds before the trigger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2834640"/>
            <a:ext cx="10332720" cy="0"/>
          </a:xfrm>
          <a:prstGeom prst="line">
            <a:avLst/>
          </a:prstGeom>
          <a:ln w="25400">
            <a:solidFill>
              <a:srgbClr val="17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865376" y="2688336"/>
            <a:ext cx="292608" cy="292608"/>
          </a:xfrm>
          <a:prstGeom prst="ellipse">
            <a:avLst/>
          </a:prstGeom>
          <a:solidFill>
            <a:srgbClr val="237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154680"/>
            <a:ext cx="2286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72B3A"/>
                </a:solidFill>
              </a:defRPr>
            </a:pPr>
            <a:r>
              <a:t>Pre-event buffer</a:t>
            </a:r>
          </a:p>
          <a:p>
            <a:pPr algn="ctr">
              <a:defRPr sz="1300">
                <a:solidFill>
                  <a:srgbClr val="68757E"/>
                </a:solidFill>
              </a:defRPr>
            </a:pPr>
            <a:r>
              <a:t>Last 5 seconds kept in RAM</a:t>
            </a:r>
          </a:p>
        </p:txBody>
      </p:sp>
      <p:sp>
        <p:nvSpPr>
          <p:cNvPr id="7" name="Oval 6"/>
          <p:cNvSpPr/>
          <p:nvPr/>
        </p:nvSpPr>
        <p:spPr>
          <a:xfrm>
            <a:off x="5797296" y="2688336"/>
            <a:ext cx="292608" cy="292608"/>
          </a:xfrm>
          <a:prstGeom prst="ellipse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00600" y="3154680"/>
            <a:ext cx="2286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72B3A"/>
                </a:solidFill>
              </a:defRPr>
            </a:pPr>
            <a:r>
              <a:t>Motion detected</a:t>
            </a:r>
          </a:p>
          <a:p>
            <a:pPr algn="ctr">
              <a:defRPr sz="1300">
                <a:solidFill>
                  <a:srgbClr val="68757E"/>
                </a:solidFill>
              </a:defRPr>
            </a:pPr>
            <a:r>
              <a:t>Thermal trigger</a:t>
            </a:r>
          </a:p>
        </p:txBody>
      </p:sp>
      <p:sp>
        <p:nvSpPr>
          <p:cNvPr id="9" name="Oval 8"/>
          <p:cNvSpPr/>
          <p:nvPr/>
        </p:nvSpPr>
        <p:spPr>
          <a:xfrm>
            <a:off x="9272016" y="2688336"/>
            <a:ext cx="292608" cy="292608"/>
          </a:xfrm>
          <a:prstGeom prst="ellipse">
            <a:avLst/>
          </a:prstGeom>
          <a:solidFill>
            <a:srgbClr val="3A8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3154680"/>
            <a:ext cx="2286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72B3A"/>
                </a:solidFill>
              </a:defRPr>
            </a:pPr>
            <a:r>
              <a:t>Event recording</a:t>
            </a:r>
          </a:p>
          <a:p>
            <a:pPr algn="ctr">
              <a:defRPr sz="1300">
                <a:solidFill>
                  <a:srgbClr val="68757E"/>
                </a:solidFill>
              </a:defRPr>
            </a:pPr>
            <a:r>
              <a:t>RGB + thermal MJPEG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800600"/>
            <a:ext cx="10241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72B3A"/>
                </a:solidFill>
              </a:defRPr>
            </a:pPr>
            <a:r>
              <a:t>Main idea: a motion-triggered camera should not lose the beginning of the event.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7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75720" y="6665976"/>
            <a:ext cx="4572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2B3A"/>
                </a:solidFill>
              </a:defRPr>
            </a:pPr>
            <a:r>
              <a:t>2. Hardware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8757E"/>
                </a:solidFill>
              </a:defRPr>
            </a:pPr>
            <a:r>
              <a:t>Three components define the embedded camera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52044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7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73152" cy="324612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581912"/>
            <a:ext cx="3200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72B3A"/>
                </a:solidFill>
              </a:defRPr>
            </a:pPr>
            <a:r>
              <a:t>OpenMV N6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039112"/>
            <a:ext cx="3172968" cy="24688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E2226"/>
                </a:solidFill>
              </a:defRPr>
            </a:pPr>
            <a:r>
              <a:t>Main embedded platform</a:t>
            </a:r>
            <a:br/>
            <a:br/>
            <a:r>
              <a:t>• MicroPython</a:t>
            </a:r>
            <a:br/>
            <a:r>
              <a:t>• 64 MiB SDRAM</a:t>
            </a:r>
            <a:br/>
            <a:r>
              <a:t>• Camera interfaces</a:t>
            </a:r>
            <a:br/>
            <a:r>
              <a:t>• Wi-Fi networking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17320"/>
            <a:ext cx="352044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7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417320"/>
            <a:ext cx="73152" cy="3246120"/>
          </a:xfrm>
          <a:prstGeom prst="rect">
            <a:avLst/>
          </a:prstGeom>
          <a:solidFill>
            <a:srgbClr val="237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1581912"/>
            <a:ext cx="3200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72B3A"/>
                </a:solidFill>
              </a:defRPr>
            </a:pPr>
            <a:r>
              <a:t>PAG7936 RGB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2039112"/>
            <a:ext cx="3172968" cy="24688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E2226"/>
                </a:solidFill>
              </a:defRPr>
            </a:pPr>
            <a:r>
              <a:t>High-resolution visual recording</a:t>
            </a:r>
            <a:br/>
            <a:br/>
            <a:r>
              <a:t>• 640 × 400 prebuffer</a:t>
            </a:r>
            <a:br/>
            <a:r>
              <a:t>• 1280 × 800 live recording</a:t>
            </a:r>
            <a:br/>
            <a:r>
              <a:t>• RGB565 pre-event frames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417320"/>
            <a:ext cx="352044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7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01000" y="1417320"/>
            <a:ext cx="73152" cy="3246120"/>
          </a:xfrm>
          <a:prstGeom prst="rect">
            <a:avLst/>
          </a:prstGeom>
          <a:solidFill>
            <a:srgbClr val="3A8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02168" y="1581912"/>
            <a:ext cx="3200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72B3A"/>
                </a:solidFill>
              </a:defRPr>
            </a:pPr>
            <a:r>
              <a:t>FLIR Lepton 3.5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2168" y="2039112"/>
            <a:ext cx="3172968" cy="24688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E2226"/>
                </a:solidFill>
              </a:defRPr>
            </a:pPr>
            <a:r>
              <a:t>Thermal sensing and event trigger</a:t>
            </a:r>
            <a:br/>
            <a:br/>
            <a:r>
              <a:t>• 160 × 120</a:t>
            </a:r>
            <a:br/>
            <a:r>
              <a:t>• Thermal frame differencing</a:t>
            </a:r>
            <a:br/>
            <a:r>
              <a:t>• FFC-aware motion detection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16636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72B3A"/>
                </a:solidFill>
              </a:defRPr>
            </a:pPr>
            <a:r>
              <a:t>Lepton detects → PAG provides detail → both cameras record the event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7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75720" y="6665976"/>
            <a:ext cx="4572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System Runtime Architecture</a:t>
            </a:r>
          </a:p>
        </p:txBody>
      </p:sp>
      <p:pic>
        <p:nvPicPr>
          <p:cNvPr id="3" name="Picture 2" descr="a_clean_black_and_white_technical_block_diagram_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7843" y="822960"/>
            <a:ext cx="4896008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2B3A"/>
                </a:solidFill>
              </a:defRPr>
            </a:pPr>
            <a:r>
              <a:t>4. Pre-Event Buffer &amp; Motion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8757E"/>
                </a:solidFill>
              </a:defRPr>
            </a:pPr>
            <a:r>
              <a:t>The main embedded design challenge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74519"/>
            <a:ext cx="457200" cy="658368"/>
          </a:xfrm>
          <a:prstGeom prst="roundRect">
            <a:avLst/>
          </a:prstGeom>
          <a:solidFill>
            <a:srgbClr val="237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98448" y="1874519"/>
            <a:ext cx="457200" cy="658368"/>
          </a:xfrm>
          <a:prstGeom prst="roundRect">
            <a:avLst/>
          </a:prstGeom>
          <a:solidFill>
            <a:srgbClr val="237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65376" y="1874519"/>
            <a:ext cx="457200" cy="658368"/>
          </a:xfrm>
          <a:prstGeom prst="roundRect">
            <a:avLst/>
          </a:prstGeom>
          <a:solidFill>
            <a:srgbClr val="237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32304" y="1874519"/>
            <a:ext cx="457200" cy="658368"/>
          </a:xfrm>
          <a:prstGeom prst="roundRect">
            <a:avLst/>
          </a:prstGeom>
          <a:solidFill>
            <a:srgbClr val="237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99232" y="1874519"/>
            <a:ext cx="457200" cy="658368"/>
          </a:xfrm>
          <a:prstGeom prst="roundRect">
            <a:avLst/>
          </a:prstGeom>
          <a:solidFill>
            <a:srgbClr val="237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874519"/>
            <a:ext cx="457200" cy="658368"/>
          </a:xfrm>
          <a:prstGeom prst="roundRect">
            <a:avLst/>
          </a:prstGeom>
          <a:solidFill>
            <a:srgbClr val="237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33087" y="1874519"/>
            <a:ext cx="457200" cy="658368"/>
          </a:xfrm>
          <a:prstGeom prst="roundRect">
            <a:avLst/>
          </a:prstGeom>
          <a:solidFill>
            <a:srgbClr val="237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24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0016" y="1874519"/>
            <a:ext cx="457200" cy="658368"/>
          </a:xfrm>
          <a:prstGeom prst="round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5176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8757E"/>
                </a:solidFill>
              </a:defRPr>
            </a:pPr>
            <a:r>
              <a:t>Newest 25 frames continuously replace the oldest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97880" y="1417320"/>
            <a:ext cx="25146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7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97880" y="1417320"/>
            <a:ext cx="73152" cy="1920240"/>
          </a:xfrm>
          <a:prstGeom prst="rect">
            <a:avLst/>
          </a:prstGeom>
          <a:solidFill>
            <a:srgbClr val="237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9048" y="1581912"/>
            <a:ext cx="2194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72B3A"/>
                </a:solidFill>
              </a:defRPr>
            </a:pPr>
            <a:r>
              <a:t>640 × 400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9048" y="2039112"/>
            <a:ext cx="2167128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E2226"/>
                </a:solidFill>
              </a:defRPr>
            </a:pPr>
            <a:r>
              <a:t>RGB prebuffer</a:t>
            </a:r>
            <a:br/>
            <a:r>
              <a:t>≈ 12.21 MiB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417320"/>
            <a:ext cx="25146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7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41080" y="1417320"/>
            <a:ext cx="73152" cy="192024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42248" y="1581912"/>
            <a:ext cx="2194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72B3A"/>
                </a:solidFill>
              </a:defRPr>
            </a:pPr>
            <a:r>
              <a:t>1280 × 800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42248" y="2039112"/>
            <a:ext cx="2167128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E2226"/>
                </a:solidFill>
              </a:defRPr>
            </a:pPr>
            <a:r>
              <a:t>Same 25-frame buffer</a:t>
            </a:r>
            <a:br/>
            <a:r>
              <a:t>≈ 48.83 MiB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794760"/>
            <a:ext cx="32461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7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3794760"/>
            <a:ext cx="73152" cy="1508760"/>
          </a:xfrm>
          <a:prstGeom prst="rect">
            <a:avLst/>
          </a:prstGeom>
          <a:solidFill>
            <a:srgbClr val="3A8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3959352"/>
            <a:ext cx="29260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72B3A"/>
                </a:solidFill>
              </a:defRPr>
            </a:pPr>
            <a:r>
              <a:t>5 seconds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4416552"/>
            <a:ext cx="2898648" cy="731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E2226"/>
                </a:solidFill>
              </a:defRPr>
            </a:pPr>
            <a:r>
              <a:t>5 FPS × 5 s = 25 frames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51960" y="3794760"/>
            <a:ext cx="32461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7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51960" y="3794760"/>
            <a:ext cx="73152" cy="150876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53128" y="3959352"/>
            <a:ext cx="29260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72B3A"/>
                </a:solidFill>
              </a:defRPr>
            </a:pPr>
            <a:r>
              <a:t>Thermal trigger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53128" y="4416552"/>
            <a:ext cx="2898648" cy="731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E2226"/>
                </a:solidFill>
              </a:defRPr>
            </a:pPr>
            <a:r>
              <a:t>Frame differencing + histogram percentiles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0" y="3794760"/>
            <a:ext cx="32461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7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72400" y="3794760"/>
            <a:ext cx="73152" cy="1508760"/>
          </a:xfrm>
          <a:prstGeom prst="rect">
            <a:avLst/>
          </a:prstGeom>
          <a:solidFill>
            <a:srgbClr val="237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73568" y="3959352"/>
            <a:ext cx="29260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72B3A"/>
                </a:solidFill>
              </a:defRPr>
            </a:pPr>
            <a:r>
              <a:t>Adaptive background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73568" y="4416552"/>
            <a:ext cx="2898648" cy="731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E2226"/>
                </a:solidFill>
              </a:defRPr>
            </a:pPr>
            <a:r>
              <a:t>Slow environmental changes are absorbed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7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75720" y="6665976"/>
            <a:ext cx="4572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2B3A"/>
                </a:solidFill>
              </a:defRPr>
            </a:pPr>
            <a:r>
              <a:t>5. Engineering Problems Solved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8757E"/>
                </a:solidFill>
              </a:defRPr>
            </a:pPr>
            <a:r>
              <a:t>The project became much more than basic motion detection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325880"/>
            <a:ext cx="73152" cy="182880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490472"/>
            <a:ext cx="31546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72B3A"/>
                </a:solidFill>
              </a:defRPr>
            </a:pPr>
            <a:r>
              <a:t>Lepton FFC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947672"/>
            <a:ext cx="3127248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E2226"/>
                </a:solidFill>
              </a:defRPr>
            </a:pPr>
            <a:r>
              <a:t>Calibration looked like motion.</a:t>
            </a:r>
            <a:br/>
            <a:br/>
            <a:r>
              <a:t>Solution: suspend detection, wait 5 s, rebuild background.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32588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70832" y="1325880"/>
            <a:ext cx="73152" cy="1828800"/>
          </a:xfrm>
          <a:prstGeom prst="rect">
            <a:avLst/>
          </a:prstGeom>
          <a:solidFill>
            <a:srgbClr val="237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490472"/>
            <a:ext cx="31546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72B3A"/>
                </a:solidFill>
              </a:defRPr>
            </a:pPr>
            <a:r>
              <a:t>MJPEG / AVI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947672"/>
            <a:ext cx="3127248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E2226"/>
                </a:solidFill>
              </a:defRPr>
            </a:pPr>
            <a:r>
              <a:t>Incorrect timing and missing index.</a:t>
            </a:r>
            <a:br/>
            <a:br/>
            <a:r>
              <a:t>Solution: patch timing fields and generate AVI idx1.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55864" y="132588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55864" y="1325880"/>
            <a:ext cx="73152" cy="1828800"/>
          </a:xfrm>
          <a:prstGeom prst="rect">
            <a:avLst/>
          </a:prstGeom>
          <a:solidFill>
            <a:srgbClr val="3A8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57032" y="1490472"/>
            <a:ext cx="31546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72B3A"/>
                </a:solidFill>
              </a:defRPr>
            </a:pPr>
            <a:r>
              <a:t>Memory pressure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2" y="1947672"/>
            <a:ext cx="3127248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E2226"/>
                </a:solidFill>
              </a:defRPr>
            </a:pPr>
            <a:r>
              <a:t>Large RGB buffers exceeded the practical heap.</a:t>
            </a:r>
            <a:br/>
            <a:br/>
            <a:r>
              <a:t>Solution: lower prebuffer resolution and reuse images.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0" y="3657600"/>
            <a:ext cx="38404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7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28800" y="3657600"/>
            <a:ext cx="73152" cy="169164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29968" y="3822191"/>
            <a:ext cx="3520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72B3A"/>
                </a:solidFill>
              </a:defRPr>
            </a:pPr>
            <a:r>
              <a:t>Reliability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29968" y="4279392"/>
            <a:ext cx="3493008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E2226"/>
                </a:solidFill>
              </a:defRPr>
            </a:pPr>
            <a:r>
              <a:t>Proactive garbage collection, persistent logging and hardware watchdog recovery.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3657600"/>
            <a:ext cx="38404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7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92240" y="3657600"/>
            <a:ext cx="73152" cy="1691640"/>
          </a:xfrm>
          <a:prstGeom prst="rect">
            <a:avLst/>
          </a:prstGeom>
          <a:solidFill>
            <a:srgbClr val="237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93407" y="3822191"/>
            <a:ext cx="3520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72B3A"/>
                </a:solidFill>
              </a:defRPr>
            </a:pPr>
            <a:r>
              <a:t>Networking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93407" y="4279392"/>
            <a:ext cx="3493008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E2226"/>
                </a:solidFill>
              </a:defRPr>
            </a:pPr>
            <a:r>
              <a:t>Asynchronous HTTPS upload, retry handling and local file retention after failures.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7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75720" y="6665976"/>
            <a:ext cx="4572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2B3A"/>
                </a:solidFill>
              </a:defRPr>
            </a:pPr>
            <a:r>
              <a:t>6. AWS Backend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8757E"/>
                </a:solidFill>
              </a:defRPr>
            </a:pPr>
            <a:r>
              <a:t>Temporary credentials on the device — automated processing in the cloud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148840"/>
            <a:ext cx="19659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237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72B3A"/>
                </a:solidFill>
              </a:defRPr>
            </a:pPr>
            <a:r>
              <a:t>OpenMV N6</a:t>
            </a:r>
          </a:p>
          <a:p>
            <a:pPr algn="ctr">
              <a:defRPr sz="1100">
                <a:solidFill>
                  <a:srgbClr val="68757E"/>
                </a:solidFill>
              </a:defRPr>
            </a:pPr>
            <a:r>
              <a:t>Request upload URL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423160" y="2770632"/>
            <a:ext cx="365760" cy="0"/>
          </a:xfrm>
          <a:prstGeom prst="line">
            <a:avLst/>
          </a:prstGeom>
          <a:ln w="25400">
            <a:solidFill>
              <a:srgbClr val="E85D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788920" y="2148840"/>
            <a:ext cx="19659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237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72B3A"/>
                </a:solidFill>
              </a:defRPr>
            </a:pPr>
            <a:r>
              <a:t>API Gateway + Lambda</a:t>
            </a:r>
          </a:p>
          <a:p>
            <a:pPr algn="ctr">
              <a:defRPr sz="1100">
                <a:solidFill>
                  <a:srgbClr val="68757E"/>
                </a:solidFill>
              </a:defRPr>
            </a:pPr>
            <a:r>
              <a:t>Generate presigned S3 PUT URL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754879" y="2770632"/>
            <a:ext cx="365761" cy="0"/>
          </a:xfrm>
          <a:prstGeom prst="line">
            <a:avLst/>
          </a:prstGeom>
          <a:ln w="25400">
            <a:solidFill>
              <a:srgbClr val="E85D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120640" y="2148840"/>
            <a:ext cx="19659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237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72B3A"/>
                </a:solidFill>
              </a:defRPr>
            </a:pPr>
            <a:r>
              <a:t>Amazon S3</a:t>
            </a:r>
          </a:p>
          <a:p>
            <a:pPr algn="ctr">
              <a:defRPr sz="1100">
                <a:solidFill>
                  <a:srgbClr val="68757E"/>
                </a:solidFill>
              </a:defRPr>
            </a:pPr>
            <a:r>
              <a:t>Store PAG + Lepton MJPEG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086600" y="2770632"/>
            <a:ext cx="365760" cy="0"/>
          </a:xfrm>
          <a:prstGeom prst="line">
            <a:avLst/>
          </a:prstGeom>
          <a:ln w="25400">
            <a:solidFill>
              <a:srgbClr val="E85D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452360" y="2148840"/>
            <a:ext cx="19659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237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72B3A"/>
                </a:solidFill>
              </a:defRPr>
            </a:pPr>
            <a:r>
              <a:t>Lambda</a:t>
            </a:r>
          </a:p>
          <a:p>
            <a:pPr algn="ctr">
              <a:defRPr sz="1100">
                <a:solidFill>
                  <a:srgbClr val="68757E"/>
                </a:solidFill>
              </a:defRPr>
            </a:pPr>
            <a:r>
              <a:t>S3 ObjectCreated event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418320" y="2770632"/>
            <a:ext cx="365760" cy="0"/>
          </a:xfrm>
          <a:prstGeom prst="line">
            <a:avLst/>
          </a:prstGeom>
          <a:ln w="25400">
            <a:solidFill>
              <a:srgbClr val="E85D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784080" y="2148840"/>
            <a:ext cx="19659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237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72B3A"/>
                </a:solidFill>
              </a:defRPr>
            </a:pPr>
            <a:r>
              <a:t>Rekognition</a:t>
            </a:r>
          </a:p>
          <a:p>
            <a:pPr algn="ctr">
              <a:defRPr sz="1100">
                <a:solidFill>
                  <a:srgbClr val="68757E"/>
                </a:solidFill>
              </a:defRPr>
            </a:pPr>
            <a:r>
              <a:t>Analyze selected PAG frames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160520"/>
            <a:ext cx="9966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72B3A"/>
                </a:solidFill>
              </a:defRPr>
            </a:pPr>
            <a:r>
              <a:t>Configured target found → retain event and save target frames</a:t>
            </a:r>
            <a:br/>
            <a:r>
              <a:t>No configured target → reject and delete the event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7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75720" y="6665976"/>
            <a:ext cx="4572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2B3A"/>
                </a:solidFill>
              </a:defRPr>
            </a:pPr>
            <a:r>
              <a:t>7. Results &amp;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8757E"/>
                </a:solidFill>
              </a:defRPr>
            </a:pPr>
            <a:r>
              <a:t>Measured results from the completed system</a:t>
            </a:r>
          </a:p>
        </p:txBody>
      </p:sp>
      <p:pic>
        <p:nvPicPr>
          <p:cNvPr id="4" name="Picture 3" descr="frame_00000_rotat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325880"/>
            <a:ext cx="4892040" cy="782726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1371600"/>
            <a:ext cx="2514600" cy="1325880"/>
          </a:xfrm>
          <a:prstGeom prst="roundRect">
            <a:avLst/>
          </a:prstGeom>
          <a:solidFill>
            <a:srgbClr val="F5F7F8"/>
          </a:solidFill>
          <a:ln>
            <a:solidFill>
              <a:srgbClr val="DC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E85D04"/>
                </a:solidFill>
              </a:defRPr>
            </a:pPr>
            <a:r>
              <a:t>5 s</a:t>
            </a:r>
          </a:p>
          <a:p>
            <a:pPr algn="ctr">
              <a:defRPr sz="1200">
                <a:solidFill>
                  <a:srgbClr val="1E2226"/>
                </a:solidFill>
              </a:defRPr>
            </a:pPr>
            <a:r>
              <a:t>pre-event buffer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371600"/>
            <a:ext cx="2514600" cy="1325880"/>
          </a:xfrm>
          <a:prstGeom prst="roundRect">
            <a:avLst/>
          </a:prstGeom>
          <a:solidFill>
            <a:srgbClr val="F5F7F8"/>
          </a:solidFill>
          <a:ln>
            <a:solidFill>
              <a:srgbClr val="DC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E85D04"/>
                </a:solidFill>
              </a:defRPr>
            </a:pPr>
            <a:r>
              <a:t>25</a:t>
            </a:r>
          </a:p>
          <a:p>
            <a:pPr algn="ctr">
              <a:defRPr sz="1200">
                <a:solidFill>
                  <a:srgbClr val="1E2226"/>
                </a:solidFill>
              </a:defRPr>
            </a:pPr>
            <a:r>
              <a:t>frames per full buffer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063240"/>
            <a:ext cx="2514600" cy="1325880"/>
          </a:xfrm>
          <a:prstGeom prst="roundRect">
            <a:avLst/>
          </a:prstGeom>
          <a:solidFill>
            <a:srgbClr val="F5F7F8"/>
          </a:solidFill>
          <a:ln>
            <a:solidFill>
              <a:srgbClr val="DC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E85D04"/>
                </a:solidFill>
              </a:defRPr>
            </a:pPr>
            <a:r>
              <a:t>~4.84 FPS</a:t>
            </a:r>
          </a:p>
          <a:p>
            <a:pPr algn="ctr">
              <a:defRPr sz="1200">
                <a:solidFill>
                  <a:srgbClr val="1E2226"/>
                </a:solidFill>
              </a:defRPr>
            </a:pPr>
            <a:r>
              <a:t>measured PAG live recording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3063240"/>
            <a:ext cx="2514600" cy="1325880"/>
          </a:xfrm>
          <a:prstGeom prst="roundRect">
            <a:avLst/>
          </a:prstGeom>
          <a:solidFill>
            <a:srgbClr val="F5F7F8"/>
          </a:solidFill>
          <a:ln>
            <a:solidFill>
              <a:srgbClr val="DC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E85D04"/>
                </a:solidFill>
              </a:defRPr>
            </a:pPr>
            <a:r>
              <a:t>&gt;10 h</a:t>
            </a:r>
          </a:p>
          <a:p>
            <a:pPr algn="ctr">
              <a:defRPr sz="1200">
                <a:solidFill>
                  <a:srgbClr val="1E2226"/>
                </a:solidFill>
              </a:defRPr>
            </a:pPr>
            <a:r>
              <a:t>full-system stress 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5074920"/>
            <a:ext cx="4892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68757E"/>
                </a:solidFill>
              </a:defRPr>
            </a:pPr>
            <a:r>
              <a:t>Example PAG frame processed by the AWS recognition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983480"/>
            <a:ext cx="54406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72B3A"/>
                </a:solidFill>
              </a:defRPr>
            </a:pPr>
            <a:r>
              <a:t>Thermal detection → pre-event recording → dual-camera MJPEG → S3 → wildlife recognition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7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75720" y="6665976"/>
            <a:ext cx="4572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